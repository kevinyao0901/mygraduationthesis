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0"/>
  </p:notesMasterIdLst>
  <p:sldIdLst>
    <p:sldId id="329" r:id="rId2"/>
    <p:sldId id="355" r:id="rId3"/>
    <p:sldId id="356" r:id="rId4"/>
    <p:sldId id="357" r:id="rId5"/>
    <p:sldId id="358" r:id="rId6"/>
    <p:sldId id="359" r:id="rId7"/>
    <p:sldId id="360" r:id="rId8"/>
    <p:sldId id="322" r:id="rId9"/>
  </p:sldIdLst>
  <p:sldSz cx="9144000" cy="5184775"/>
  <p:notesSz cx="6858000" cy="9144000"/>
  <p:defaultTextStyle>
    <a:defPPr>
      <a:defRPr lang="zh-CN"/>
    </a:defPPr>
    <a:lvl1pPr marL="0" algn="l" defTabSz="687705" rtl="0" eaLnBrk="1" latinLnBrk="0" hangingPunct="1">
      <a:defRPr sz="1355" kern="1200">
        <a:solidFill>
          <a:schemeClr val="tx1"/>
        </a:solidFill>
        <a:latin typeface="+mn-lt"/>
        <a:ea typeface="+mn-ea"/>
        <a:cs typeface="+mn-cs"/>
      </a:defRPr>
    </a:lvl1pPr>
    <a:lvl2pPr marL="344170" algn="l" defTabSz="687705" rtl="0" eaLnBrk="1" latinLnBrk="0" hangingPunct="1">
      <a:defRPr sz="1355" kern="1200">
        <a:solidFill>
          <a:schemeClr val="tx1"/>
        </a:solidFill>
        <a:latin typeface="+mn-lt"/>
        <a:ea typeface="+mn-ea"/>
        <a:cs typeface="+mn-cs"/>
      </a:defRPr>
    </a:lvl2pPr>
    <a:lvl3pPr marL="687705" algn="l" defTabSz="687705" rtl="0" eaLnBrk="1" latinLnBrk="0" hangingPunct="1">
      <a:defRPr sz="1355" kern="1200">
        <a:solidFill>
          <a:schemeClr val="tx1"/>
        </a:solidFill>
        <a:latin typeface="+mn-lt"/>
        <a:ea typeface="+mn-ea"/>
        <a:cs typeface="+mn-cs"/>
      </a:defRPr>
    </a:lvl3pPr>
    <a:lvl4pPr marL="1031875" algn="l" defTabSz="687705" rtl="0" eaLnBrk="1" latinLnBrk="0" hangingPunct="1">
      <a:defRPr sz="1355" kern="1200">
        <a:solidFill>
          <a:schemeClr val="tx1"/>
        </a:solidFill>
        <a:latin typeface="+mn-lt"/>
        <a:ea typeface="+mn-ea"/>
        <a:cs typeface="+mn-cs"/>
      </a:defRPr>
    </a:lvl4pPr>
    <a:lvl5pPr marL="1375410" algn="l" defTabSz="687705" rtl="0" eaLnBrk="1" latinLnBrk="0" hangingPunct="1">
      <a:defRPr sz="1355" kern="1200">
        <a:solidFill>
          <a:schemeClr val="tx1"/>
        </a:solidFill>
        <a:latin typeface="+mn-lt"/>
        <a:ea typeface="+mn-ea"/>
        <a:cs typeface="+mn-cs"/>
      </a:defRPr>
    </a:lvl5pPr>
    <a:lvl6pPr marL="1719580" algn="l" defTabSz="687705" rtl="0" eaLnBrk="1" latinLnBrk="0" hangingPunct="1">
      <a:defRPr sz="1355" kern="1200">
        <a:solidFill>
          <a:schemeClr val="tx1"/>
        </a:solidFill>
        <a:latin typeface="+mn-lt"/>
        <a:ea typeface="+mn-ea"/>
        <a:cs typeface="+mn-cs"/>
      </a:defRPr>
    </a:lvl6pPr>
    <a:lvl7pPr marL="2063115" algn="l" defTabSz="687705" rtl="0" eaLnBrk="1" latinLnBrk="0" hangingPunct="1">
      <a:defRPr sz="1355" kern="1200">
        <a:solidFill>
          <a:schemeClr val="tx1"/>
        </a:solidFill>
        <a:latin typeface="+mn-lt"/>
        <a:ea typeface="+mn-ea"/>
        <a:cs typeface="+mn-cs"/>
      </a:defRPr>
    </a:lvl7pPr>
    <a:lvl8pPr marL="2407285" algn="l" defTabSz="687705" rtl="0" eaLnBrk="1" latinLnBrk="0" hangingPunct="1">
      <a:defRPr sz="1355" kern="1200">
        <a:solidFill>
          <a:schemeClr val="tx1"/>
        </a:solidFill>
        <a:latin typeface="+mn-lt"/>
        <a:ea typeface="+mn-ea"/>
        <a:cs typeface="+mn-cs"/>
      </a:defRPr>
    </a:lvl8pPr>
    <a:lvl9pPr marL="2750820" algn="l" defTabSz="687705" rtl="0" eaLnBrk="1" latinLnBrk="0" hangingPunct="1">
      <a:defRPr sz="1355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5534">
          <p15:clr>
            <a:srgbClr val="A4A3A4"/>
          </p15:clr>
        </p15:guide>
        <p15:guide id="2" orient="horz" pos="3039">
          <p15:clr>
            <a:srgbClr val="A4A3A4"/>
          </p15:clr>
        </p15:guide>
        <p15:guide id="3" pos="1470">
          <p15:clr>
            <a:srgbClr val="A4A3A4"/>
          </p15:clr>
        </p15:guide>
        <p15:guide id="4" orient="horz" pos="2462">
          <p15:clr>
            <a:srgbClr val="A4A3A4"/>
          </p15:clr>
        </p15:guide>
        <p15:guide id="5" pos="2653">
          <p15:clr>
            <a:srgbClr val="A4A3A4"/>
          </p15:clr>
        </p15:guide>
        <p15:guide id="6" orient="horz" pos="2064">
          <p15:clr>
            <a:srgbClr val="A4A3A4"/>
          </p15:clr>
        </p15:guide>
        <p15:guide id="7" orient="horz" pos="590">
          <p15:clr>
            <a:srgbClr val="A4A3A4"/>
          </p15:clr>
        </p15:guide>
        <p15:guide id="8" orient="horz" pos="226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51E36"/>
    <a:srgbClr val="C76A6B"/>
    <a:srgbClr val="E3A9A7"/>
    <a:srgbClr val="555759"/>
    <a:srgbClr val="FFFFFF"/>
    <a:srgbClr val="E9004C"/>
    <a:srgbClr val="F26E7D"/>
    <a:srgbClr val="E9F0F9"/>
    <a:srgbClr val="A0D6EF"/>
    <a:srgbClr val="6EC4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浅色样式 2 - 强调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81"/>
    <p:restoredTop sz="94714"/>
  </p:normalViewPr>
  <p:slideViewPr>
    <p:cSldViewPr snapToGrid="0" snapToObjects="1">
      <p:cViewPr varScale="1">
        <p:scale>
          <a:sx n="130" d="100"/>
          <a:sy n="130" d="100"/>
        </p:scale>
        <p:origin x="870" y="126"/>
      </p:cViewPr>
      <p:guideLst>
        <p:guide pos="5534"/>
        <p:guide orient="horz" pos="3039"/>
        <p:guide pos="1470"/>
        <p:guide orient="horz" pos="2462"/>
        <p:guide pos="2653"/>
        <p:guide orient="horz" pos="2064"/>
        <p:guide orient="horz" pos="590"/>
        <p:guide orient="horz" pos="226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BD9612-F53E-5945-9C8E-1F92400E66B2}" type="datetimeFigureOut">
              <a:rPr kumimoji="1" lang="zh-CN" altLang="en-US" smtClean="0"/>
              <a:t>2026/1/7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708025" y="1143000"/>
            <a:ext cx="54419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7208A1-D38D-C548-96DE-88E99097BFF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8527"/>
            <a:ext cx="6858000" cy="180507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23207"/>
            <a:ext cx="6858000" cy="125178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80EBC-1F4F-064A-BCDA-A8702FD7B152}" type="datetimeFigureOut">
              <a:rPr kumimoji="1" lang="zh-CN" altLang="en-US" smtClean="0"/>
              <a:t>2026/1/7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F141A-EAFD-9144-B9F1-78E320CF3BD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80EBC-1F4F-064A-BCDA-A8702FD7B152}" type="datetimeFigureOut">
              <a:rPr kumimoji="1" lang="zh-CN" altLang="en-US" smtClean="0"/>
              <a:t>2026/1/7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F141A-EAFD-9144-B9F1-78E320CF3BD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92594"/>
            <a:ext cx="7886700" cy="215672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69719"/>
            <a:ext cx="7886700" cy="113416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80EBC-1F4F-064A-BCDA-A8702FD7B152}" type="datetimeFigureOut">
              <a:rPr kumimoji="1" lang="zh-CN" altLang="en-US" smtClean="0"/>
              <a:t>2026/1/7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F141A-EAFD-9144-B9F1-78E320CF3BD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80206"/>
            <a:ext cx="3886200" cy="328969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80206"/>
            <a:ext cx="3886200" cy="328969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80EBC-1F4F-064A-BCDA-A8702FD7B152}" type="datetimeFigureOut">
              <a:rPr kumimoji="1" lang="zh-CN" altLang="en-US" smtClean="0"/>
              <a:t>2026/1/7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F141A-EAFD-9144-B9F1-78E320CF3BD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6042"/>
            <a:ext cx="7886700" cy="100215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70990"/>
            <a:ext cx="3868340" cy="6228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93883"/>
            <a:ext cx="3868340" cy="278561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70990"/>
            <a:ext cx="3887391" cy="6228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93883"/>
            <a:ext cx="3887391" cy="278561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80EBC-1F4F-064A-BCDA-A8702FD7B152}" type="datetimeFigureOut">
              <a:rPr kumimoji="1" lang="zh-CN" altLang="en-US" smtClean="0"/>
              <a:t>2026/1/7</a:t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F141A-EAFD-9144-B9F1-78E320CF3BD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80EBC-1F4F-064A-BCDA-A8702FD7B152}" type="datetimeFigureOut">
              <a:rPr kumimoji="1" lang="zh-CN" altLang="en-US" smtClean="0"/>
              <a:t>2026/1/7</a:t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F141A-EAFD-9144-B9F1-78E320CF3BD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80EBC-1F4F-064A-BCDA-A8702FD7B152}" type="datetimeFigureOut">
              <a:rPr kumimoji="1" lang="zh-CN" altLang="en-US" smtClean="0"/>
              <a:t>2026/1/7</a:t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F141A-EAFD-9144-B9F1-78E320CF3BD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5652"/>
            <a:ext cx="2949178" cy="120978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6512"/>
            <a:ext cx="4629150" cy="368455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55433"/>
            <a:ext cx="2949178" cy="288163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80EBC-1F4F-064A-BCDA-A8702FD7B152}" type="datetimeFigureOut">
              <a:rPr kumimoji="1" lang="zh-CN" altLang="en-US" smtClean="0"/>
              <a:t>2026/1/7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F141A-EAFD-9144-B9F1-78E320CF3BD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5652"/>
            <a:ext cx="2949178" cy="120978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3887391" y="746512"/>
            <a:ext cx="4629150" cy="368455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将图片拖动到占位符，或单击添加图标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55433"/>
            <a:ext cx="2949178" cy="288163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80EBC-1F4F-064A-BCDA-A8702FD7B152}" type="datetimeFigureOut">
              <a:rPr kumimoji="1" lang="zh-CN" altLang="en-US" smtClean="0"/>
              <a:t>2026/1/7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F141A-EAFD-9144-B9F1-78E320CF3BD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80EBC-1F4F-064A-BCDA-A8702FD7B152}" type="datetimeFigureOut">
              <a:rPr kumimoji="1" lang="zh-CN" altLang="en-US" smtClean="0"/>
              <a:t>2026/1/7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F141A-EAFD-9144-B9F1-78E320CF3BD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6041"/>
            <a:ext cx="1971675" cy="439385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6041"/>
            <a:ext cx="5800725" cy="439385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80EBC-1F4F-064A-BCDA-A8702FD7B152}" type="datetimeFigureOut">
              <a:rPr kumimoji="1" lang="zh-CN" altLang="en-US" smtClean="0"/>
              <a:t>2026/1/7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F141A-EAFD-9144-B9F1-78E320CF3BD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6042"/>
            <a:ext cx="7886700" cy="10021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80206"/>
            <a:ext cx="7886700" cy="32896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805519"/>
            <a:ext cx="2057400" cy="2760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880EBC-1F4F-064A-BCDA-A8702FD7B152}" type="datetimeFigureOut">
              <a:rPr kumimoji="1" lang="zh-CN" altLang="en-US" smtClean="0"/>
              <a:t>2026/1/7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805519"/>
            <a:ext cx="3086100" cy="2760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805519"/>
            <a:ext cx="2057400" cy="2760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AF141A-EAFD-9144-B9F1-78E320CF3BD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未标题-2-0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3365" cy="518414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3444" y="936625"/>
            <a:ext cx="1338221" cy="4320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303264" y="2097062"/>
            <a:ext cx="5489803" cy="9900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500"/>
              </a:lnSpc>
            </a:pPr>
            <a:r>
              <a:rPr kumimoji="1" lang="zh-CN" altLang="en-US" sz="3200" dirty="0">
                <a:solidFill>
                  <a:srgbClr val="A51E36"/>
                </a:solidFill>
                <a:latin typeface="兰亭黑-简 中黑" charset="-122"/>
                <a:ea typeface="兰亭黑-简 中黑" charset="-122"/>
                <a:cs typeface="Gotham Bold" charset="0"/>
              </a:rPr>
              <a:t>面向机器人端侧大模型的量化技术性能评估及工具实现</a:t>
            </a:r>
            <a:endParaRPr kumimoji="1" lang="en-US" altLang="zh-CN" sz="3200" dirty="0">
              <a:solidFill>
                <a:srgbClr val="A51E36"/>
              </a:solidFill>
              <a:latin typeface="兰亭黑-简 中黑" charset="-122"/>
              <a:ea typeface="兰亭黑-简 中黑" charset="-122"/>
              <a:cs typeface="Gotham Bold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263503" y="1655960"/>
            <a:ext cx="46794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</a:pPr>
            <a:r>
              <a:rPr lang="zh-CN" altLang="en-US" sz="2400" dirty="0">
                <a:solidFill>
                  <a:srgbClr val="A51E36"/>
                </a:solidFill>
                <a:latin typeface="Geometria-Medium" panose="020B0603020204020204" charset="0"/>
              </a:rPr>
              <a:t>开题报告答辩</a:t>
            </a:r>
            <a:endParaRPr lang="en-US" altLang="zh-CN" sz="2400" dirty="0">
              <a:solidFill>
                <a:srgbClr val="A51E36"/>
              </a:solidFill>
              <a:latin typeface="Geometria-Medium" panose="020B060302020402020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3A59BF8-1AF3-E16D-DFE4-E50B4132E46F}"/>
              </a:ext>
            </a:extLst>
          </p:cNvPr>
          <p:cNvSpPr txBox="1"/>
          <p:nvPr/>
        </p:nvSpPr>
        <p:spPr>
          <a:xfrm>
            <a:off x="2333444" y="3135443"/>
            <a:ext cx="24261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A51E36"/>
                </a:solidFill>
                <a:latin typeface="Geometria-Medium" panose="020B0603020204020204" charset="0"/>
              </a:rPr>
              <a:t>姓名：姚凯文</a:t>
            </a:r>
            <a:endParaRPr lang="en-US" altLang="zh-CN" sz="1600" dirty="0">
              <a:solidFill>
                <a:srgbClr val="A51E36"/>
              </a:solidFill>
              <a:latin typeface="Geometria-Medium" panose="020B0603020204020204" charset="0"/>
            </a:endParaRPr>
          </a:p>
          <a:p>
            <a:r>
              <a:rPr lang="zh-CN" altLang="en-US" sz="1600" dirty="0">
                <a:solidFill>
                  <a:srgbClr val="A51E36"/>
                </a:solidFill>
                <a:latin typeface="Geometria-Medium" panose="020B0603020204020204" charset="0"/>
              </a:rPr>
              <a:t>学号：</a:t>
            </a:r>
            <a:r>
              <a:rPr lang="en-US" altLang="zh-CN" sz="1600" dirty="0">
                <a:solidFill>
                  <a:srgbClr val="A51E36"/>
                </a:solidFill>
                <a:latin typeface="Geometria-Medium" panose="020B0603020204020204" charset="0"/>
              </a:rPr>
              <a:t>10224507041</a:t>
            </a:r>
          </a:p>
          <a:p>
            <a:r>
              <a:rPr lang="zh-CN" altLang="en-US" sz="1600" dirty="0">
                <a:solidFill>
                  <a:srgbClr val="A51E36"/>
                </a:solidFill>
                <a:latin typeface="Geometria-Medium" panose="020B0603020204020204" charset="0"/>
              </a:rPr>
              <a:t>日期：</a:t>
            </a:r>
            <a:r>
              <a:rPr lang="en-US" altLang="zh-CN" sz="1600" dirty="0">
                <a:solidFill>
                  <a:srgbClr val="A51E36"/>
                </a:solidFill>
                <a:latin typeface="Geometria-Medium" panose="020B0603020204020204" charset="0"/>
              </a:rPr>
              <a:t>2026</a:t>
            </a:r>
            <a:r>
              <a:rPr lang="zh-CN" altLang="en-US" sz="1600" dirty="0">
                <a:solidFill>
                  <a:srgbClr val="A51E36"/>
                </a:solidFill>
                <a:latin typeface="Geometria-Medium" panose="020B0603020204020204" charset="0"/>
              </a:rPr>
              <a:t>年</a:t>
            </a:r>
            <a:r>
              <a:rPr lang="en-US" altLang="zh-CN" sz="1600" dirty="0">
                <a:solidFill>
                  <a:srgbClr val="A51E36"/>
                </a:solidFill>
                <a:latin typeface="Geometria-Medium" panose="020B0603020204020204" charset="0"/>
              </a:rPr>
              <a:t>1</a:t>
            </a:r>
            <a:r>
              <a:rPr lang="zh-CN" altLang="en-US" sz="1600" dirty="0">
                <a:solidFill>
                  <a:srgbClr val="A51E36"/>
                </a:solidFill>
                <a:latin typeface="Geometria-Medium" panose="020B0603020204020204" charset="0"/>
              </a:rPr>
              <a:t>月</a:t>
            </a:r>
            <a:r>
              <a:rPr lang="en-US" altLang="zh-CN" sz="1600" dirty="0">
                <a:solidFill>
                  <a:srgbClr val="A51E36"/>
                </a:solidFill>
                <a:latin typeface="Geometria-Medium" panose="020B0603020204020204" charset="0"/>
              </a:rPr>
              <a:t>8</a:t>
            </a:r>
            <a:r>
              <a:rPr lang="zh-CN" altLang="en-US" sz="1600" dirty="0">
                <a:solidFill>
                  <a:srgbClr val="A51E36"/>
                </a:solidFill>
                <a:latin typeface="Geometria-Medium" panose="020B0603020204020204" charset="0"/>
              </a:rPr>
              <a:t>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F4329-A8D2-A5FC-1E75-33FC6628D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>
            <a:extLst>
              <a:ext uri="{FF2B5EF4-FFF2-40B4-BE49-F238E27FC236}">
                <a16:creationId xmlns:a16="http://schemas.microsoft.com/office/drawing/2014/main" id="{78057DB0-33A6-D0A3-FED8-4A6CF4783B74}"/>
              </a:ext>
            </a:extLst>
          </p:cNvPr>
          <p:cNvSpPr txBox="1"/>
          <p:nvPr/>
        </p:nvSpPr>
        <p:spPr>
          <a:xfrm>
            <a:off x="1047139" y="1184231"/>
            <a:ext cx="7053873" cy="425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600"/>
              </a:lnSpc>
            </a:pPr>
            <a:r>
              <a:rPr kumimoji="1" lang="zh-CN" altLang="en-US" sz="2600" dirty="0">
                <a:solidFill>
                  <a:srgbClr val="A51E36"/>
                </a:solidFill>
                <a:latin typeface="兰亭黑-简 中黑" charset="-122"/>
                <a:ea typeface="兰亭黑-简 中黑" charset="-122"/>
                <a:cs typeface="Gotham Bold" charset="0"/>
              </a:rPr>
              <a:t>研究背景与意义</a:t>
            </a:r>
            <a:endParaRPr kumimoji="1" lang="en-US" altLang="zh-CN" sz="2600" dirty="0">
              <a:solidFill>
                <a:srgbClr val="A51E36"/>
              </a:solidFill>
              <a:latin typeface="兰亭黑-简 中黑" charset="-122"/>
              <a:ea typeface="兰亭黑-简 中黑" charset="-122"/>
              <a:cs typeface="Gotham Bold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1F3E76A-3D8E-A14C-AC22-370A4088BCEA}"/>
              </a:ext>
            </a:extLst>
          </p:cNvPr>
          <p:cNvSpPr txBox="1"/>
          <p:nvPr/>
        </p:nvSpPr>
        <p:spPr>
          <a:xfrm>
            <a:off x="1027545" y="1660323"/>
            <a:ext cx="7149804" cy="1757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ts val="2200"/>
              </a:lnSpc>
            </a:pPr>
            <a:r>
              <a:rPr lang="en-US" altLang="zh-CN" sz="1400" dirty="0">
                <a:solidFill>
                  <a:srgbClr val="6C6E70"/>
                </a:solidFill>
                <a:latin typeface="兰亭黑-简 纤黑" charset="-122"/>
                <a:ea typeface="兰亭黑-简 纤黑" charset="-122"/>
              </a:rPr>
              <a:t>- </a:t>
            </a:r>
            <a:r>
              <a:rPr lang="zh-CN" altLang="en-US" sz="1400" dirty="0">
                <a:solidFill>
                  <a:srgbClr val="6C6E70"/>
                </a:solidFill>
                <a:latin typeface="兰亭黑-简 纤黑" charset="-122"/>
                <a:ea typeface="兰亭黑-简 纤黑" charset="-122"/>
              </a:rPr>
              <a:t>背景：</a:t>
            </a:r>
          </a:p>
          <a:p>
            <a:pPr algn="just">
              <a:lnSpc>
                <a:spcPts val="2200"/>
              </a:lnSpc>
            </a:pPr>
            <a:r>
              <a:rPr lang="zh-CN" altLang="en-US" sz="1400" dirty="0">
                <a:solidFill>
                  <a:srgbClr val="6C6E70"/>
                </a:solidFill>
                <a:latin typeface="兰亭黑-简 纤黑" charset="-122"/>
                <a:ea typeface="兰亭黑-简 纤黑" charset="-122"/>
              </a:rPr>
              <a:t>  </a:t>
            </a:r>
            <a:r>
              <a:rPr lang="en-US" altLang="zh-CN" sz="1400" dirty="0">
                <a:solidFill>
                  <a:srgbClr val="6C6E70"/>
                </a:solidFill>
                <a:latin typeface="兰亭黑-简 纤黑" charset="-122"/>
                <a:ea typeface="兰亭黑-简 纤黑" charset="-122"/>
              </a:rPr>
              <a:t>- </a:t>
            </a:r>
            <a:r>
              <a:rPr lang="zh-CN" altLang="en-US" sz="1400" dirty="0">
                <a:solidFill>
                  <a:srgbClr val="6C6E70"/>
                </a:solidFill>
                <a:latin typeface="兰亭黑-简 纤黑" charset="-122"/>
                <a:ea typeface="兰亭黑-简 纤黑" charset="-122"/>
              </a:rPr>
              <a:t>大语言模型（</a:t>
            </a:r>
            <a:r>
              <a:rPr lang="en-US" altLang="zh-CN" sz="1400" dirty="0">
                <a:solidFill>
                  <a:srgbClr val="6C6E70"/>
                </a:solidFill>
                <a:latin typeface="兰亭黑-简 纤黑" charset="-122"/>
                <a:ea typeface="兰亭黑-简 纤黑" charset="-122"/>
              </a:rPr>
              <a:t>LLM</a:t>
            </a:r>
            <a:r>
              <a:rPr lang="zh-CN" altLang="en-US" sz="1400" dirty="0">
                <a:solidFill>
                  <a:srgbClr val="6C6E70"/>
                </a:solidFill>
                <a:latin typeface="兰亭黑-简 纤黑" charset="-122"/>
                <a:ea typeface="兰亭黑-简 纤黑" charset="-122"/>
              </a:rPr>
              <a:t>）在多任务、多场景下表现优异。</a:t>
            </a:r>
          </a:p>
          <a:p>
            <a:pPr algn="just">
              <a:lnSpc>
                <a:spcPts val="2200"/>
              </a:lnSpc>
            </a:pPr>
            <a:r>
              <a:rPr lang="zh-CN" altLang="en-US" sz="1400" dirty="0">
                <a:solidFill>
                  <a:srgbClr val="6C6E70"/>
                </a:solidFill>
                <a:latin typeface="兰亭黑-简 纤黑" charset="-122"/>
                <a:ea typeface="兰亭黑-简 纤黑" charset="-122"/>
              </a:rPr>
              <a:t>  </a:t>
            </a:r>
            <a:r>
              <a:rPr lang="en-US" altLang="zh-CN" sz="1400" dirty="0">
                <a:solidFill>
                  <a:srgbClr val="6C6E70"/>
                </a:solidFill>
                <a:latin typeface="兰亭黑-简 纤黑" charset="-122"/>
                <a:ea typeface="兰亭黑-简 纤黑" charset="-122"/>
              </a:rPr>
              <a:t>- </a:t>
            </a:r>
            <a:r>
              <a:rPr lang="zh-CN" altLang="en-US" sz="1400" dirty="0">
                <a:solidFill>
                  <a:srgbClr val="6C6E70"/>
                </a:solidFill>
                <a:latin typeface="兰亭黑-简 纤黑" charset="-122"/>
                <a:ea typeface="兰亭黑-简 纤黑" charset="-122"/>
              </a:rPr>
              <a:t>机器人探索将语言模型结合高层控制，提升交互与任务适应性。</a:t>
            </a:r>
          </a:p>
          <a:p>
            <a:pPr algn="just">
              <a:lnSpc>
                <a:spcPts val="2200"/>
              </a:lnSpc>
            </a:pPr>
            <a:r>
              <a:rPr lang="en-US" altLang="zh-CN" sz="1400" dirty="0">
                <a:solidFill>
                  <a:srgbClr val="6C6E70"/>
                </a:solidFill>
                <a:latin typeface="兰亭黑-简 纤黑" charset="-122"/>
                <a:ea typeface="兰亭黑-简 纤黑" charset="-122"/>
              </a:rPr>
              <a:t>- </a:t>
            </a:r>
            <a:r>
              <a:rPr lang="zh-CN" altLang="en-US" sz="1400" dirty="0">
                <a:solidFill>
                  <a:srgbClr val="6C6E70"/>
                </a:solidFill>
                <a:latin typeface="兰亭黑-简 纤黑" charset="-122"/>
                <a:ea typeface="兰亭黑-简 纤黑" charset="-122"/>
              </a:rPr>
              <a:t>意义：</a:t>
            </a:r>
          </a:p>
          <a:p>
            <a:pPr algn="just">
              <a:lnSpc>
                <a:spcPts val="2200"/>
              </a:lnSpc>
            </a:pPr>
            <a:r>
              <a:rPr lang="zh-CN" altLang="en-US" sz="1400" dirty="0">
                <a:solidFill>
                  <a:srgbClr val="6C6E70"/>
                </a:solidFill>
                <a:latin typeface="兰亭黑-简 纤黑" charset="-122"/>
                <a:ea typeface="兰亭黑-简 纤黑" charset="-122"/>
              </a:rPr>
              <a:t>  </a:t>
            </a:r>
            <a:r>
              <a:rPr lang="en-US" altLang="zh-CN" sz="1400" dirty="0">
                <a:solidFill>
                  <a:srgbClr val="6C6E70"/>
                </a:solidFill>
                <a:latin typeface="兰亭黑-简 纤黑" charset="-122"/>
                <a:ea typeface="兰亭黑-简 纤黑" charset="-122"/>
              </a:rPr>
              <a:t>- LLM</a:t>
            </a:r>
            <a:r>
              <a:rPr lang="zh-CN" altLang="en-US" sz="1400" dirty="0">
                <a:solidFill>
                  <a:srgbClr val="6C6E70"/>
                </a:solidFill>
                <a:latin typeface="兰亭黑-简 纤黑" charset="-122"/>
                <a:ea typeface="兰亭黑-简 纤黑" charset="-122"/>
              </a:rPr>
              <a:t>部署面临硬件算力和能耗限制。</a:t>
            </a:r>
          </a:p>
          <a:p>
            <a:pPr algn="just">
              <a:lnSpc>
                <a:spcPts val="2200"/>
              </a:lnSpc>
            </a:pPr>
            <a:r>
              <a:rPr lang="zh-CN" altLang="en-US" sz="1400" dirty="0">
                <a:solidFill>
                  <a:srgbClr val="6C6E70"/>
                </a:solidFill>
                <a:latin typeface="兰亭黑-简 纤黑" charset="-122"/>
                <a:ea typeface="兰亭黑-简 纤黑" charset="-122"/>
              </a:rPr>
              <a:t>  </a:t>
            </a:r>
            <a:r>
              <a:rPr lang="en-US" altLang="zh-CN" sz="1400" dirty="0">
                <a:solidFill>
                  <a:srgbClr val="6C6E70"/>
                </a:solidFill>
                <a:latin typeface="兰亭黑-简 纤黑" charset="-122"/>
                <a:ea typeface="兰亭黑-简 纤黑" charset="-122"/>
              </a:rPr>
              <a:t>- </a:t>
            </a:r>
            <a:r>
              <a:rPr lang="zh-CN" altLang="en-US" sz="1400" dirty="0">
                <a:solidFill>
                  <a:srgbClr val="6C6E70"/>
                </a:solidFill>
                <a:latin typeface="兰亭黑-简 纤黑" charset="-122"/>
                <a:ea typeface="兰亭黑-简 纤黑" charset="-122"/>
              </a:rPr>
              <a:t>探讨量化技术降低模型负担，保障实时性和可靠性。</a:t>
            </a:r>
            <a:endParaRPr lang="en-US" altLang="zh-CN" sz="1400" dirty="0">
              <a:solidFill>
                <a:srgbClr val="6C6E70"/>
              </a:solidFill>
              <a:latin typeface="兰亭黑-简 纤黑" charset="-122"/>
              <a:ea typeface="兰亭黑-简 纤黑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156873C-5742-ECE0-39EE-10367994A4D1}"/>
              </a:ext>
            </a:extLst>
          </p:cNvPr>
          <p:cNvSpPr txBox="1"/>
          <p:nvPr/>
        </p:nvSpPr>
        <p:spPr>
          <a:xfrm>
            <a:off x="7270595" y="513626"/>
            <a:ext cx="882456" cy="2223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1000"/>
              </a:lnSpc>
            </a:pPr>
            <a:r>
              <a:rPr kumimoji="1" lang="en-US" altLang="zh-CN" sz="1000" i="1" dirty="0">
                <a:solidFill>
                  <a:srgbClr val="9E9FA0"/>
                </a:solidFill>
                <a:latin typeface="Geometria-Italic" panose="020B0503020204090204" charset="0"/>
                <a:ea typeface="+mj-ea"/>
                <a:cs typeface="Geometria-Italic" panose="020B0503020204090204" charset="0"/>
              </a:rPr>
              <a:t>01 / 6</a:t>
            </a:r>
          </a:p>
        </p:txBody>
      </p:sp>
    </p:spTree>
    <p:extLst>
      <p:ext uri="{BB962C8B-B14F-4D97-AF65-F5344CB8AC3E}">
        <p14:creationId xmlns:p14="http://schemas.microsoft.com/office/powerpoint/2010/main" val="7447909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22B762-E5DD-1154-2784-AF99B9D3A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>
            <a:extLst>
              <a:ext uri="{FF2B5EF4-FFF2-40B4-BE49-F238E27FC236}">
                <a16:creationId xmlns:a16="http://schemas.microsoft.com/office/drawing/2014/main" id="{5511322D-5A26-6E37-4DDD-CB6967DB0FC5}"/>
              </a:ext>
            </a:extLst>
          </p:cNvPr>
          <p:cNvSpPr txBox="1"/>
          <p:nvPr/>
        </p:nvSpPr>
        <p:spPr>
          <a:xfrm>
            <a:off x="1047139" y="1184231"/>
            <a:ext cx="7053873" cy="425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600"/>
              </a:lnSpc>
            </a:pPr>
            <a:r>
              <a:rPr kumimoji="1" lang="zh-CN" altLang="en-US" sz="2600" dirty="0">
                <a:solidFill>
                  <a:srgbClr val="A51E36"/>
                </a:solidFill>
                <a:latin typeface="兰亭黑-简 中黑" charset="-122"/>
                <a:ea typeface="兰亭黑-简 中黑" charset="-122"/>
                <a:cs typeface="Gotham Bold" charset="0"/>
              </a:rPr>
              <a:t>研究问题与目标</a:t>
            </a:r>
            <a:endParaRPr kumimoji="1" lang="en-US" altLang="zh-CN" sz="2600" dirty="0">
              <a:solidFill>
                <a:srgbClr val="A51E36"/>
              </a:solidFill>
              <a:latin typeface="兰亭黑-简 中黑" charset="-122"/>
              <a:ea typeface="兰亭黑-简 中黑" charset="-122"/>
              <a:cs typeface="Gotham Bold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309411A-8344-7082-8A93-AECF1B34F057}"/>
              </a:ext>
            </a:extLst>
          </p:cNvPr>
          <p:cNvSpPr txBox="1"/>
          <p:nvPr/>
        </p:nvSpPr>
        <p:spPr>
          <a:xfrm>
            <a:off x="1027545" y="1660323"/>
            <a:ext cx="7149804" cy="2321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ts val="2200"/>
              </a:lnSpc>
            </a:pPr>
            <a:r>
              <a:rPr lang="en-US" altLang="zh-CN" sz="1400" dirty="0">
                <a:solidFill>
                  <a:srgbClr val="6C6E70"/>
                </a:solidFill>
                <a:latin typeface="兰亭黑-简 纤黑" charset="-122"/>
                <a:ea typeface="兰亭黑-简 纤黑" charset="-122"/>
              </a:rPr>
              <a:t>- </a:t>
            </a:r>
            <a:r>
              <a:rPr lang="zh-CN" altLang="en-US" sz="1400" dirty="0">
                <a:solidFill>
                  <a:srgbClr val="6C6E70"/>
                </a:solidFill>
                <a:latin typeface="兰亭黑-简 纤黑" charset="-122"/>
                <a:ea typeface="兰亭黑-简 纤黑" charset="-122"/>
              </a:rPr>
              <a:t>核心研究问题：</a:t>
            </a:r>
          </a:p>
          <a:p>
            <a:pPr algn="just">
              <a:lnSpc>
                <a:spcPts val="2200"/>
              </a:lnSpc>
            </a:pPr>
            <a:r>
              <a:rPr lang="zh-CN" altLang="en-US" sz="1400" dirty="0">
                <a:solidFill>
                  <a:srgbClr val="6C6E70"/>
                </a:solidFill>
                <a:latin typeface="兰亭黑-简 纤黑" charset="-122"/>
                <a:ea typeface="兰亭黑-简 纤黑" charset="-122"/>
              </a:rPr>
              <a:t>  </a:t>
            </a:r>
            <a:r>
              <a:rPr lang="en-US" altLang="zh-CN" sz="1400" dirty="0">
                <a:solidFill>
                  <a:srgbClr val="6C6E70"/>
                </a:solidFill>
                <a:latin typeface="兰亭黑-简 纤黑" charset="-122"/>
                <a:ea typeface="兰亭黑-简 纤黑" charset="-122"/>
              </a:rPr>
              <a:t>1. LLM</a:t>
            </a:r>
            <a:r>
              <a:rPr lang="zh-CN" altLang="en-US" sz="1400" dirty="0">
                <a:solidFill>
                  <a:srgbClr val="6C6E70"/>
                </a:solidFill>
                <a:latin typeface="兰亭黑-简 纤黑" charset="-122"/>
                <a:ea typeface="兰亭黑-简 纤黑" charset="-122"/>
              </a:rPr>
              <a:t>不同量化策略对机器人任务性能的影响？</a:t>
            </a:r>
          </a:p>
          <a:p>
            <a:pPr algn="just">
              <a:lnSpc>
                <a:spcPts val="2200"/>
              </a:lnSpc>
            </a:pPr>
            <a:r>
              <a:rPr lang="zh-CN" altLang="en-US" sz="1400" dirty="0">
                <a:solidFill>
                  <a:srgbClr val="6C6E70"/>
                </a:solidFill>
                <a:latin typeface="兰亭黑-简 纤黑" charset="-122"/>
                <a:ea typeface="兰亭黑-简 纤黑" charset="-122"/>
              </a:rPr>
              <a:t>  </a:t>
            </a:r>
            <a:r>
              <a:rPr lang="en-US" altLang="zh-CN" sz="1400" dirty="0">
                <a:solidFill>
                  <a:srgbClr val="6C6E70"/>
                </a:solidFill>
                <a:latin typeface="兰亭黑-简 纤黑" charset="-122"/>
                <a:ea typeface="兰亭黑-简 纤黑" charset="-122"/>
              </a:rPr>
              <a:t>2. </a:t>
            </a:r>
            <a:r>
              <a:rPr lang="zh-CN" altLang="en-US" sz="1400" dirty="0">
                <a:solidFill>
                  <a:srgbClr val="6C6E70"/>
                </a:solidFill>
                <a:latin typeface="兰亭黑-简 纤黑" charset="-122"/>
                <a:ea typeface="兰亭黑-简 纤黑" charset="-122"/>
              </a:rPr>
              <a:t>如何构建可复现的量化部署流程？</a:t>
            </a:r>
          </a:p>
          <a:p>
            <a:pPr algn="just">
              <a:lnSpc>
                <a:spcPts val="2200"/>
              </a:lnSpc>
            </a:pPr>
            <a:r>
              <a:rPr lang="zh-CN" altLang="en-US" sz="1400" dirty="0">
                <a:solidFill>
                  <a:srgbClr val="6C6E70"/>
                </a:solidFill>
                <a:latin typeface="兰亭黑-简 纤黑" charset="-122"/>
                <a:ea typeface="兰亭黑-简 纤黑" charset="-122"/>
              </a:rPr>
              <a:t>  </a:t>
            </a:r>
            <a:r>
              <a:rPr lang="en-US" altLang="zh-CN" sz="1400" dirty="0">
                <a:solidFill>
                  <a:srgbClr val="6C6E70"/>
                </a:solidFill>
                <a:latin typeface="兰亭黑-简 纤黑" charset="-122"/>
                <a:ea typeface="兰亭黑-简 纤黑" charset="-122"/>
              </a:rPr>
              <a:t>3. </a:t>
            </a:r>
            <a:r>
              <a:rPr lang="zh-CN" altLang="en-US" sz="1400" dirty="0">
                <a:solidFill>
                  <a:srgbClr val="6C6E70"/>
                </a:solidFill>
                <a:latin typeface="兰亭黑-简 纤黑" charset="-122"/>
                <a:ea typeface="兰亭黑-简 纤黑" charset="-122"/>
              </a:rPr>
              <a:t>针对机器人场景的量化优化经验？</a:t>
            </a:r>
          </a:p>
          <a:p>
            <a:pPr algn="just">
              <a:lnSpc>
                <a:spcPts val="2200"/>
              </a:lnSpc>
            </a:pPr>
            <a:r>
              <a:rPr lang="en-US" altLang="zh-CN" sz="1400" dirty="0">
                <a:solidFill>
                  <a:srgbClr val="6C6E70"/>
                </a:solidFill>
                <a:latin typeface="兰亭黑-简 纤黑" charset="-122"/>
                <a:ea typeface="兰亭黑-简 纤黑" charset="-122"/>
              </a:rPr>
              <a:t>- </a:t>
            </a:r>
            <a:r>
              <a:rPr lang="zh-CN" altLang="en-US" sz="1400" dirty="0">
                <a:solidFill>
                  <a:srgbClr val="6C6E70"/>
                </a:solidFill>
                <a:latin typeface="兰亭黑-简 纤黑" charset="-122"/>
                <a:ea typeface="兰亭黑-简 纤黑" charset="-122"/>
              </a:rPr>
              <a:t>预期目标：</a:t>
            </a:r>
          </a:p>
          <a:p>
            <a:pPr algn="just">
              <a:lnSpc>
                <a:spcPts val="2200"/>
              </a:lnSpc>
            </a:pPr>
            <a:r>
              <a:rPr lang="zh-CN" altLang="en-US" sz="1400" dirty="0">
                <a:solidFill>
                  <a:srgbClr val="6C6E70"/>
                </a:solidFill>
                <a:latin typeface="兰亭黑-简 纤黑" charset="-122"/>
                <a:ea typeface="兰亭黑-简 纤黑" charset="-122"/>
              </a:rPr>
              <a:t>  </a:t>
            </a:r>
            <a:r>
              <a:rPr lang="en-US" altLang="zh-CN" sz="1400" dirty="0">
                <a:solidFill>
                  <a:srgbClr val="6C6E70"/>
                </a:solidFill>
                <a:latin typeface="兰亭黑-简 纤黑" charset="-122"/>
                <a:ea typeface="兰亭黑-简 纤黑" charset="-122"/>
              </a:rPr>
              <a:t>- </a:t>
            </a:r>
            <a:r>
              <a:rPr lang="zh-CN" altLang="en-US" sz="1400" dirty="0">
                <a:solidFill>
                  <a:srgbClr val="6C6E70"/>
                </a:solidFill>
                <a:latin typeface="兰亭黑-简 纤黑" charset="-122"/>
                <a:ea typeface="兰亭黑-简 纤黑" charset="-122"/>
              </a:rPr>
              <a:t>可复现量化部署。</a:t>
            </a:r>
          </a:p>
          <a:p>
            <a:pPr algn="just">
              <a:lnSpc>
                <a:spcPts val="2200"/>
              </a:lnSpc>
            </a:pPr>
            <a:r>
              <a:rPr lang="zh-CN" altLang="en-US" sz="1400" dirty="0">
                <a:solidFill>
                  <a:srgbClr val="6C6E70"/>
                </a:solidFill>
                <a:latin typeface="兰亭黑-简 纤黑" charset="-122"/>
                <a:ea typeface="兰亭黑-简 纤黑" charset="-122"/>
              </a:rPr>
              <a:t>  </a:t>
            </a:r>
            <a:r>
              <a:rPr lang="en-US" altLang="zh-CN" sz="1400" dirty="0">
                <a:solidFill>
                  <a:srgbClr val="6C6E70"/>
                </a:solidFill>
                <a:latin typeface="兰亭黑-简 纤黑" charset="-122"/>
                <a:ea typeface="兰亭黑-简 纤黑" charset="-122"/>
              </a:rPr>
              <a:t>- </a:t>
            </a:r>
            <a:r>
              <a:rPr lang="zh-CN" altLang="en-US" sz="1400" dirty="0">
                <a:solidFill>
                  <a:srgbClr val="6C6E70"/>
                </a:solidFill>
                <a:latin typeface="兰亭黑-简 纤黑" charset="-122"/>
                <a:ea typeface="兰亭黑-简 纤黑" charset="-122"/>
              </a:rPr>
              <a:t>构建机器人任务测试平台。</a:t>
            </a:r>
          </a:p>
          <a:p>
            <a:pPr algn="just">
              <a:lnSpc>
                <a:spcPts val="2200"/>
              </a:lnSpc>
            </a:pPr>
            <a:r>
              <a:rPr lang="zh-CN" altLang="en-US" sz="1400" dirty="0">
                <a:solidFill>
                  <a:srgbClr val="6C6E70"/>
                </a:solidFill>
                <a:latin typeface="兰亭黑-简 纤黑" charset="-122"/>
                <a:ea typeface="兰亭黑-简 纤黑" charset="-122"/>
              </a:rPr>
              <a:t>  </a:t>
            </a:r>
            <a:r>
              <a:rPr lang="en-US" altLang="zh-CN" sz="1400" dirty="0">
                <a:solidFill>
                  <a:srgbClr val="6C6E70"/>
                </a:solidFill>
                <a:latin typeface="兰亭黑-简 纤黑" charset="-122"/>
                <a:ea typeface="兰亭黑-简 纤黑" charset="-122"/>
              </a:rPr>
              <a:t>- </a:t>
            </a:r>
            <a:r>
              <a:rPr lang="zh-CN" altLang="en-US" sz="1400" dirty="0">
                <a:solidFill>
                  <a:srgbClr val="6C6E70"/>
                </a:solidFill>
                <a:latin typeface="兰亭黑-简 纤黑" charset="-122"/>
                <a:ea typeface="兰亭黑-简 纤黑" charset="-122"/>
              </a:rPr>
              <a:t>提出优化建议，降低延迟和消耗。</a:t>
            </a:r>
            <a:endParaRPr lang="en-US" altLang="zh-CN" sz="1400" dirty="0">
              <a:solidFill>
                <a:srgbClr val="6C6E70"/>
              </a:solidFill>
              <a:latin typeface="兰亭黑-简 纤黑" charset="-122"/>
              <a:ea typeface="兰亭黑-简 纤黑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6E0E5DB-29F8-A513-23F8-BA84D5D836C8}"/>
              </a:ext>
            </a:extLst>
          </p:cNvPr>
          <p:cNvSpPr txBox="1"/>
          <p:nvPr/>
        </p:nvSpPr>
        <p:spPr>
          <a:xfrm>
            <a:off x="7270595" y="513626"/>
            <a:ext cx="882456" cy="2223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1000"/>
              </a:lnSpc>
            </a:pPr>
            <a:r>
              <a:rPr kumimoji="1" lang="en-US" altLang="zh-CN" sz="1000" i="1" dirty="0">
                <a:solidFill>
                  <a:srgbClr val="9E9FA0"/>
                </a:solidFill>
                <a:latin typeface="Geometria-Italic" panose="020B0503020204090204" charset="0"/>
                <a:ea typeface="+mj-ea"/>
                <a:cs typeface="Geometria-Italic" panose="020B0503020204090204" charset="0"/>
              </a:rPr>
              <a:t>02/ 6</a:t>
            </a:r>
          </a:p>
        </p:txBody>
      </p:sp>
    </p:spTree>
    <p:extLst>
      <p:ext uri="{BB962C8B-B14F-4D97-AF65-F5344CB8AC3E}">
        <p14:creationId xmlns:p14="http://schemas.microsoft.com/office/powerpoint/2010/main" val="18721329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0B262-A257-E41D-E654-A7AD3631B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>
            <a:extLst>
              <a:ext uri="{FF2B5EF4-FFF2-40B4-BE49-F238E27FC236}">
                <a16:creationId xmlns:a16="http://schemas.microsoft.com/office/drawing/2014/main" id="{60BFF7D9-EB9B-9C3D-BC7C-97DAF31FD03F}"/>
              </a:ext>
            </a:extLst>
          </p:cNvPr>
          <p:cNvSpPr txBox="1"/>
          <p:nvPr/>
        </p:nvSpPr>
        <p:spPr>
          <a:xfrm>
            <a:off x="1047139" y="1184231"/>
            <a:ext cx="7053873" cy="425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600"/>
              </a:lnSpc>
            </a:pPr>
            <a:r>
              <a:rPr kumimoji="1" lang="zh-CN" altLang="en-US" sz="2600" dirty="0">
                <a:solidFill>
                  <a:srgbClr val="A51E36"/>
                </a:solidFill>
                <a:latin typeface="兰亭黑-简 中黑" charset="-122"/>
                <a:ea typeface="兰亭黑-简 中黑" charset="-122"/>
                <a:cs typeface="Gotham Bold" charset="0"/>
              </a:rPr>
              <a:t>研究方法与技术路线</a:t>
            </a:r>
            <a:endParaRPr kumimoji="1" lang="en-US" altLang="zh-CN" sz="2600" dirty="0">
              <a:solidFill>
                <a:srgbClr val="A51E36"/>
              </a:solidFill>
              <a:latin typeface="兰亭黑-简 中黑" charset="-122"/>
              <a:ea typeface="兰亭黑-简 中黑" charset="-122"/>
              <a:cs typeface="Gotham Bold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94BE329-9D43-539E-ECE2-85599F4B2465}"/>
              </a:ext>
            </a:extLst>
          </p:cNvPr>
          <p:cNvSpPr txBox="1"/>
          <p:nvPr/>
        </p:nvSpPr>
        <p:spPr>
          <a:xfrm>
            <a:off x="1027545" y="1660323"/>
            <a:ext cx="7149804" cy="20394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ts val="2200"/>
              </a:lnSpc>
            </a:pPr>
            <a:r>
              <a:rPr lang="en-US" altLang="zh-CN" sz="1400" dirty="0">
                <a:solidFill>
                  <a:srgbClr val="6C6E70"/>
                </a:solidFill>
                <a:latin typeface="兰亭黑-简 纤黑" charset="-122"/>
                <a:ea typeface="兰亭黑-简 纤黑" charset="-122"/>
              </a:rPr>
              <a:t>- </a:t>
            </a:r>
            <a:r>
              <a:rPr lang="zh-CN" altLang="en-US" sz="1400" dirty="0">
                <a:solidFill>
                  <a:srgbClr val="6C6E70"/>
                </a:solidFill>
                <a:latin typeface="兰亭黑-简 纤黑" charset="-122"/>
                <a:ea typeface="兰亭黑-简 纤黑" charset="-122"/>
              </a:rPr>
              <a:t>方法：</a:t>
            </a:r>
          </a:p>
          <a:p>
            <a:pPr algn="just">
              <a:lnSpc>
                <a:spcPts val="2200"/>
              </a:lnSpc>
            </a:pPr>
            <a:r>
              <a:rPr lang="zh-CN" altLang="en-US" sz="1400" dirty="0">
                <a:solidFill>
                  <a:srgbClr val="6C6E70"/>
                </a:solidFill>
                <a:latin typeface="兰亭黑-简 纤黑" charset="-122"/>
                <a:ea typeface="兰亭黑-简 纤黑" charset="-122"/>
              </a:rPr>
              <a:t>  </a:t>
            </a:r>
            <a:r>
              <a:rPr lang="en-US" altLang="zh-CN" sz="1400" dirty="0">
                <a:solidFill>
                  <a:srgbClr val="6C6E70"/>
                </a:solidFill>
                <a:latin typeface="兰亭黑-简 纤黑" charset="-122"/>
                <a:ea typeface="兰亭黑-简 纤黑" charset="-122"/>
              </a:rPr>
              <a:t>1. </a:t>
            </a:r>
            <a:r>
              <a:rPr lang="zh-CN" altLang="en-US" sz="1400" dirty="0">
                <a:solidFill>
                  <a:srgbClr val="6C6E70"/>
                </a:solidFill>
                <a:latin typeface="兰亭黑-简 纤黑" charset="-122"/>
                <a:ea typeface="兰亭黑-简 纤黑" charset="-122"/>
              </a:rPr>
              <a:t>文献综述：总结量化方法和</a:t>
            </a:r>
            <a:r>
              <a:rPr lang="en-US" altLang="zh-CN" sz="1400" dirty="0">
                <a:solidFill>
                  <a:srgbClr val="6C6E70"/>
                </a:solidFill>
                <a:latin typeface="兰亭黑-简 纤黑" charset="-122"/>
                <a:ea typeface="兰亭黑-简 纤黑" charset="-122"/>
              </a:rPr>
              <a:t>LLM</a:t>
            </a:r>
            <a:r>
              <a:rPr lang="zh-CN" altLang="en-US" sz="1400" dirty="0">
                <a:solidFill>
                  <a:srgbClr val="6C6E70"/>
                </a:solidFill>
                <a:latin typeface="兰亭黑-简 纤黑" charset="-122"/>
                <a:ea typeface="兰亭黑-简 纤黑" charset="-122"/>
              </a:rPr>
              <a:t>机器人应用。</a:t>
            </a:r>
          </a:p>
          <a:p>
            <a:pPr algn="just">
              <a:lnSpc>
                <a:spcPts val="2200"/>
              </a:lnSpc>
            </a:pPr>
            <a:r>
              <a:rPr lang="zh-CN" altLang="en-US" sz="1400" dirty="0">
                <a:solidFill>
                  <a:srgbClr val="6C6E70"/>
                </a:solidFill>
                <a:latin typeface="兰亭黑-简 纤黑" charset="-122"/>
                <a:ea typeface="兰亭黑-简 纤黑" charset="-122"/>
              </a:rPr>
              <a:t>  </a:t>
            </a:r>
            <a:r>
              <a:rPr lang="en-US" altLang="zh-CN" sz="1400" dirty="0">
                <a:solidFill>
                  <a:srgbClr val="6C6E70"/>
                </a:solidFill>
                <a:latin typeface="兰亭黑-简 纤黑" charset="-122"/>
                <a:ea typeface="兰亭黑-简 纤黑" charset="-122"/>
              </a:rPr>
              <a:t>2. </a:t>
            </a:r>
            <a:r>
              <a:rPr lang="zh-CN" altLang="en-US" sz="1400" dirty="0">
                <a:solidFill>
                  <a:srgbClr val="6C6E70"/>
                </a:solidFill>
                <a:latin typeface="兰亭黑-简 纤黑" charset="-122"/>
                <a:ea typeface="兰亭黑-简 纤黑" charset="-122"/>
              </a:rPr>
              <a:t>任务建模：设计典型机器人语言任务场景。</a:t>
            </a:r>
          </a:p>
          <a:p>
            <a:pPr algn="just">
              <a:lnSpc>
                <a:spcPts val="2200"/>
              </a:lnSpc>
            </a:pPr>
            <a:r>
              <a:rPr lang="zh-CN" altLang="en-US" sz="1400" dirty="0">
                <a:solidFill>
                  <a:srgbClr val="6C6E70"/>
                </a:solidFill>
                <a:latin typeface="兰亭黑-简 纤黑" charset="-122"/>
                <a:ea typeface="兰亭黑-简 纤黑" charset="-122"/>
              </a:rPr>
              <a:t>  </a:t>
            </a:r>
            <a:r>
              <a:rPr lang="en-US" altLang="zh-CN" sz="1400" dirty="0">
                <a:solidFill>
                  <a:srgbClr val="6C6E70"/>
                </a:solidFill>
                <a:latin typeface="兰亭黑-简 纤黑" charset="-122"/>
                <a:ea typeface="兰亭黑-简 纤黑" charset="-122"/>
              </a:rPr>
              <a:t>3. </a:t>
            </a:r>
            <a:r>
              <a:rPr lang="zh-CN" altLang="en-US" sz="1400" dirty="0">
                <a:solidFill>
                  <a:srgbClr val="6C6E70"/>
                </a:solidFill>
                <a:latin typeface="兰亭黑-简 纤黑" charset="-122"/>
                <a:ea typeface="兰亭黑-简 纤黑" charset="-122"/>
              </a:rPr>
              <a:t>验证与优化：实验分析性能与工具工程性。</a:t>
            </a:r>
          </a:p>
          <a:p>
            <a:pPr algn="just">
              <a:lnSpc>
                <a:spcPts val="2200"/>
              </a:lnSpc>
            </a:pPr>
            <a:r>
              <a:rPr lang="en-US" altLang="zh-CN" sz="1400" dirty="0">
                <a:solidFill>
                  <a:srgbClr val="6C6E70"/>
                </a:solidFill>
                <a:latin typeface="兰亭黑-简 纤黑" charset="-122"/>
                <a:ea typeface="兰亭黑-简 纤黑" charset="-122"/>
              </a:rPr>
              <a:t>- </a:t>
            </a:r>
            <a:r>
              <a:rPr lang="zh-CN" altLang="en-US" sz="1400" dirty="0">
                <a:solidFill>
                  <a:srgbClr val="6C6E70"/>
                </a:solidFill>
                <a:latin typeface="兰亭黑-简 纤黑" charset="-122"/>
                <a:ea typeface="兰亭黑-简 纤黑" charset="-122"/>
              </a:rPr>
              <a:t>技术路线：</a:t>
            </a:r>
          </a:p>
          <a:p>
            <a:pPr algn="just">
              <a:lnSpc>
                <a:spcPts val="2200"/>
              </a:lnSpc>
            </a:pPr>
            <a:r>
              <a:rPr lang="zh-CN" altLang="en-US" sz="1400" dirty="0">
                <a:solidFill>
                  <a:srgbClr val="6C6E70"/>
                </a:solidFill>
                <a:latin typeface="兰亭黑-简 纤黑" charset="-122"/>
                <a:ea typeface="兰亭黑-简 纤黑" charset="-122"/>
              </a:rPr>
              <a:t>  </a:t>
            </a:r>
            <a:r>
              <a:rPr lang="en-US" altLang="zh-CN" sz="1400" dirty="0">
                <a:solidFill>
                  <a:srgbClr val="6C6E70"/>
                </a:solidFill>
                <a:latin typeface="兰亭黑-简 纤黑" charset="-122"/>
                <a:ea typeface="兰亭黑-简 纤黑" charset="-122"/>
              </a:rPr>
              <a:t>- </a:t>
            </a:r>
            <a:r>
              <a:rPr lang="zh-CN" altLang="en-US" sz="1400" dirty="0">
                <a:solidFill>
                  <a:srgbClr val="6C6E70"/>
                </a:solidFill>
                <a:latin typeface="兰亭黑-简 纤黑" charset="-122"/>
                <a:ea typeface="兰亭黑-简 纤黑" charset="-122"/>
              </a:rPr>
              <a:t>阶段推进，优先可复现性。</a:t>
            </a:r>
          </a:p>
          <a:p>
            <a:pPr algn="just">
              <a:lnSpc>
                <a:spcPts val="2200"/>
              </a:lnSpc>
            </a:pPr>
            <a:r>
              <a:rPr lang="zh-CN" altLang="en-US" sz="1400" dirty="0">
                <a:solidFill>
                  <a:srgbClr val="6C6E70"/>
                </a:solidFill>
                <a:latin typeface="兰亭黑-简 纤黑" charset="-122"/>
                <a:ea typeface="兰亭黑-简 纤黑" charset="-122"/>
              </a:rPr>
              <a:t>  </a:t>
            </a:r>
            <a:r>
              <a:rPr lang="en-US" altLang="zh-CN" sz="1400" dirty="0">
                <a:solidFill>
                  <a:srgbClr val="6C6E70"/>
                </a:solidFill>
                <a:latin typeface="兰亭黑-简 纤黑" charset="-122"/>
                <a:ea typeface="兰亭黑-简 纤黑" charset="-122"/>
              </a:rPr>
              <a:t>- </a:t>
            </a:r>
            <a:r>
              <a:rPr lang="zh-CN" altLang="en-US" sz="1400" dirty="0">
                <a:solidFill>
                  <a:srgbClr val="6C6E70"/>
                </a:solidFill>
                <a:latin typeface="兰亭黑-简 纤黑" charset="-122"/>
                <a:ea typeface="兰亭黑-简 纤黑" charset="-122"/>
              </a:rPr>
              <a:t>工具链：</a:t>
            </a:r>
            <a:r>
              <a:rPr lang="en-US" altLang="zh-CN" sz="1400" dirty="0">
                <a:solidFill>
                  <a:srgbClr val="6C6E70"/>
                </a:solidFill>
                <a:latin typeface="兰亭黑-简 纤黑" charset="-122"/>
                <a:ea typeface="兰亭黑-简 纤黑" charset="-122"/>
              </a:rPr>
              <a:t>Python</a:t>
            </a:r>
            <a:r>
              <a:rPr lang="zh-CN" altLang="en-US" sz="1400" dirty="0">
                <a:solidFill>
                  <a:srgbClr val="6C6E70"/>
                </a:solidFill>
                <a:latin typeface="兰亭黑-简 纤黑" charset="-122"/>
                <a:ea typeface="兰亭黑-简 纤黑" charset="-122"/>
              </a:rPr>
              <a:t>、</a:t>
            </a:r>
            <a:r>
              <a:rPr lang="en-US" altLang="zh-CN" sz="1400" dirty="0" err="1">
                <a:solidFill>
                  <a:srgbClr val="6C6E70"/>
                </a:solidFill>
                <a:latin typeface="兰亭黑-简 纤黑" charset="-122"/>
                <a:ea typeface="兰亭黑-简 纤黑" charset="-122"/>
              </a:rPr>
              <a:t>PyTorch</a:t>
            </a:r>
            <a:r>
              <a:rPr lang="zh-CN" altLang="en-US" sz="1400" dirty="0">
                <a:solidFill>
                  <a:srgbClr val="6C6E70"/>
                </a:solidFill>
                <a:latin typeface="兰亭黑-简 纤黑" charset="-122"/>
                <a:ea typeface="兰亭黑-简 纤黑" charset="-122"/>
              </a:rPr>
              <a:t>、</a:t>
            </a:r>
            <a:r>
              <a:rPr lang="en-US" altLang="zh-CN" sz="1400" dirty="0">
                <a:solidFill>
                  <a:srgbClr val="6C6E70"/>
                </a:solidFill>
                <a:latin typeface="兰亭黑-简 纤黑" charset="-122"/>
                <a:ea typeface="兰亭黑-简 纤黑" charset="-122"/>
              </a:rPr>
              <a:t>Transformers</a:t>
            </a:r>
            <a:r>
              <a:rPr lang="zh-CN" altLang="en-US" sz="1400" dirty="0">
                <a:solidFill>
                  <a:srgbClr val="6C6E70"/>
                </a:solidFill>
                <a:latin typeface="兰亭黑-简 纤黑" charset="-122"/>
                <a:ea typeface="兰亭黑-简 纤黑" charset="-122"/>
              </a:rPr>
              <a:t>等。</a:t>
            </a:r>
            <a:endParaRPr lang="en-US" altLang="zh-CN" sz="1400" dirty="0">
              <a:solidFill>
                <a:srgbClr val="6C6E70"/>
              </a:solidFill>
              <a:latin typeface="兰亭黑-简 纤黑" charset="-122"/>
              <a:ea typeface="兰亭黑-简 纤黑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0F2C69C-71AD-8E7D-A5A0-27DEDBEA937D}"/>
              </a:ext>
            </a:extLst>
          </p:cNvPr>
          <p:cNvSpPr txBox="1"/>
          <p:nvPr/>
        </p:nvSpPr>
        <p:spPr>
          <a:xfrm>
            <a:off x="7270595" y="513626"/>
            <a:ext cx="882456" cy="2223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1000"/>
              </a:lnSpc>
            </a:pPr>
            <a:r>
              <a:rPr kumimoji="1" lang="en-US" altLang="zh-CN" sz="1000" i="1" dirty="0">
                <a:solidFill>
                  <a:srgbClr val="9E9FA0"/>
                </a:solidFill>
                <a:latin typeface="Geometria-Italic" panose="020B0503020204090204" charset="0"/>
                <a:ea typeface="+mj-ea"/>
                <a:cs typeface="Geometria-Italic" panose="020B0503020204090204" charset="0"/>
              </a:rPr>
              <a:t>03 / 6</a:t>
            </a:r>
          </a:p>
        </p:txBody>
      </p:sp>
    </p:spTree>
    <p:extLst>
      <p:ext uri="{BB962C8B-B14F-4D97-AF65-F5344CB8AC3E}">
        <p14:creationId xmlns:p14="http://schemas.microsoft.com/office/powerpoint/2010/main" val="26156441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72AD91-E6FB-42E4-0A62-DE81A0228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>
            <a:extLst>
              <a:ext uri="{FF2B5EF4-FFF2-40B4-BE49-F238E27FC236}">
                <a16:creationId xmlns:a16="http://schemas.microsoft.com/office/drawing/2014/main" id="{6B246CAE-5D39-ADE4-CF3F-83CE217A20A2}"/>
              </a:ext>
            </a:extLst>
          </p:cNvPr>
          <p:cNvSpPr txBox="1"/>
          <p:nvPr/>
        </p:nvSpPr>
        <p:spPr>
          <a:xfrm>
            <a:off x="1047139" y="1184231"/>
            <a:ext cx="7053873" cy="425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600"/>
              </a:lnSpc>
            </a:pPr>
            <a:r>
              <a:rPr kumimoji="1" lang="zh-CN" altLang="en-US" sz="2600" dirty="0">
                <a:solidFill>
                  <a:srgbClr val="A51E36"/>
                </a:solidFill>
                <a:latin typeface="兰亭黑-简 中黑" charset="-122"/>
                <a:ea typeface="兰亭黑-简 中黑" charset="-122"/>
                <a:cs typeface="Gotham Bold" charset="0"/>
              </a:rPr>
              <a:t>研究计划及进度</a:t>
            </a:r>
            <a:endParaRPr kumimoji="1" lang="en-US" altLang="zh-CN" sz="2600" dirty="0">
              <a:solidFill>
                <a:srgbClr val="A51E36"/>
              </a:solidFill>
              <a:latin typeface="兰亭黑-简 中黑" charset="-122"/>
              <a:ea typeface="兰亭黑-简 中黑" charset="-122"/>
              <a:cs typeface="Gotham Bold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70CC096-4272-78FC-57D2-1A06B3E46E09}"/>
              </a:ext>
            </a:extLst>
          </p:cNvPr>
          <p:cNvSpPr txBox="1"/>
          <p:nvPr/>
        </p:nvSpPr>
        <p:spPr>
          <a:xfrm>
            <a:off x="1027545" y="1660323"/>
            <a:ext cx="7149804" cy="14751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ts val="2200"/>
              </a:lnSpc>
            </a:pPr>
            <a:r>
              <a:rPr lang="en-US" altLang="zh-CN" sz="1400" dirty="0">
                <a:solidFill>
                  <a:srgbClr val="6C6E70"/>
                </a:solidFill>
                <a:latin typeface="兰亭黑-简 纤黑" charset="-122"/>
                <a:ea typeface="兰亭黑-简 纤黑" charset="-122"/>
              </a:rPr>
              <a:t>- </a:t>
            </a:r>
            <a:r>
              <a:rPr lang="zh-CN" altLang="en-US" sz="1400" dirty="0">
                <a:solidFill>
                  <a:srgbClr val="6C6E70"/>
                </a:solidFill>
                <a:latin typeface="兰亭黑-简 纤黑" charset="-122"/>
                <a:ea typeface="兰亭黑-简 纤黑" charset="-122"/>
              </a:rPr>
              <a:t>第</a:t>
            </a:r>
            <a:r>
              <a:rPr lang="en-US" altLang="zh-CN" sz="1400" dirty="0">
                <a:solidFill>
                  <a:srgbClr val="6C6E70"/>
                </a:solidFill>
                <a:latin typeface="兰亭黑-简 纤黑" charset="-122"/>
                <a:ea typeface="兰亭黑-简 纤黑" charset="-122"/>
              </a:rPr>
              <a:t>1-3</a:t>
            </a:r>
            <a:r>
              <a:rPr lang="zh-CN" altLang="en-US" sz="1400" dirty="0">
                <a:solidFill>
                  <a:srgbClr val="6C6E70"/>
                </a:solidFill>
                <a:latin typeface="兰亭黑-简 纤黑" charset="-122"/>
                <a:ea typeface="兰亭黑-简 纤黑" charset="-122"/>
              </a:rPr>
              <a:t>周：文献调研，确定方向。</a:t>
            </a:r>
          </a:p>
          <a:p>
            <a:pPr algn="just">
              <a:lnSpc>
                <a:spcPts val="2200"/>
              </a:lnSpc>
            </a:pPr>
            <a:r>
              <a:rPr lang="en-US" altLang="zh-CN" sz="1400" dirty="0">
                <a:solidFill>
                  <a:srgbClr val="6C6E70"/>
                </a:solidFill>
                <a:latin typeface="兰亭黑-简 纤黑" charset="-122"/>
                <a:ea typeface="兰亭黑-简 纤黑" charset="-122"/>
              </a:rPr>
              <a:t>- </a:t>
            </a:r>
            <a:r>
              <a:rPr lang="zh-CN" altLang="en-US" sz="1400" dirty="0">
                <a:solidFill>
                  <a:srgbClr val="6C6E70"/>
                </a:solidFill>
                <a:latin typeface="兰亭黑-简 纤黑" charset="-122"/>
                <a:ea typeface="兰亭黑-简 纤黑" charset="-122"/>
              </a:rPr>
              <a:t>第</a:t>
            </a:r>
            <a:r>
              <a:rPr lang="en-US" altLang="zh-CN" sz="1400" dirty="0">
                <a:solidFill>
                  <a:srgbClr val="6C6E70"/>
                </a:solidFill>
                <a:latin typeface="兰亭黑-简 纤黑" charset="-122"/>
                <a:ea typeface="兰亭黑-简 纤黑" charset="-122"/>
              </a:rPr>
              <a:t>4-6</a:t>
            </a:r>
            <a:r>
              <a:rPr lang="zh-CN" altLang="en-US" sz="1400" dirty="0">
                <a:solidFill>
                  <a:srgbClr val="6C6E70"/>
                </a:solidFill>
                <a:latin typeface="兰亭黑-简 纤黑" charset="-122"/>
                <a:ea typeface="兰亭黑-简 纤黑" charset="-122"/>
              </a:rPr>
              <a:t>周：搭建实验环境，选择模型数据。</a:t>
            </a:r>
          </a:p>
          <a:p>
            <a:pPr algn="just">
              <a:lnSpc>
                <a:spcPts val="2200"/>
              </a:lnSpc>
            </a:pPr>
            <a:r>
              <a:rPr lang="en-US" altLang="zh-CN" sz="1400" dirty="0">
                <a:solidFill>
                  <a:srgbClr val="6C6E70"/>
                </a:solidFill>
                <a:latin typeface="兰亭黑-简 纤黑" charset="-122"/>
                <a:ea typeface="兰亭黑-简 纤黑" charset="-122"/>
              </a:rPr>
              <a:t>- </a:t>
            </a:r>
            <a:r>
              <a:rPr lang="zh-CN" altLang="en-US" sz="1400" dirty="0">
                <a:solidFill>
                  <a:srgbClr val="6C6E70"/>
                </a:solidFill>
                <a:latin typeface="兰亭黑-简 纤黑" charset="-122"/>
                <a:ea typeface="兰亭黑-简 纤黑" charset="-122"/>
              </a:rPr>
              <a:t>第</a:t>
            </a:r>
            <a:r>
              <a:rPr lang="en-US" altLang="zh-CN" sz="1400" dirty="0">
                <a:solidFill>
                  <a:srgbClr val="6C6E70"/>
                </a:solidFill>
                <a:latin typeface="兰亭黑-简 纤黑" charset="-122"/>
                <a:ea typeface="兰亭黑-简 纤黑" charset="-122"/>
              </a:rPr>
              <a:t>7-10</a:t>
            </a:r>
            <a:r>
              <a:rPr lang="zh-CN" altLang="en-US" sz="1400" dirty="0">
                <a:solidFill>
                  <a:srgbClr val="6C6E70"/>
                </a:solidFill>
                <a:latin typeface="兰亭黑-简 纤黑" charset="-122"/>
                <a:ea typeface="兰亭黑-简 纤黑" charset="-122"/>
              </a:rPr>
              <a:t>周：模型量化与性能测试。</a:t>
            </a:r>
          </a:p>
          <a:p>
            <a:pPr algn="just">
              <a:lnSpc>
                <a:spcPts val="2200"/>
              </a:lnSpc>
            </a:pPr>
            <a:r>
              <a:rPr lang="en-US" altLang="zh-CN" sz="1400" dirty="0">
                <a:solidFill>
                  <a:srgbClr val="6C6E70"/>
                </a:solidFill>
                <a:latin typeface="兰亭黑-简 纤黑" charset="-122"/>
                <a:ea typeface="兰亭黑-简 纤黑" charset="-122"/>
              </a:rPr>
              <a:t>- </a:t>
            </a:r>
            <a:r>
              <a:rPr lang="zh-CN" altLang="en-US" sz="1400" dirty="0">
                <a:solidFill>
                  <a:srgbClr val="6C6E70"/>
                </a:solidFill>
                <a:latin typeface="兰亭黑-简 纤黑" charset="-122"/>
                <a:ea typeface="兰亭黑-简 纤黑" charset="-122"/>
              </a:rPr>
              <a:t>第</a:t>
            </a:r>
            <a:r>
              <a:rPr lang="en-US" altLang="zh-CN" sz="1400" dirty="0">
                <a:solidFill>
                  <a:srgbClr val="6C6E70"/>
                </a:solidFill>
                <a:latin typeface="兰亭黑-简 纤黑" charset="-122"/>
                <a:ea typeface="兰亭黑-简 纤黑" charset="-122"/>
              </a:rPr>
              <a:t>11-13</a:t>
            </a:r>
            <a:r>
              <a:rPr lang="zh-CN" altLang="en-US" sz="1400" dirty="0">
                <a:solidFill>
                  <a:srgbClr val="6C6E70"/>
                </a:solidFill>
                <a:latin typeface="兰亭黑-简 纤黑" charset="-122"/>
                <a:ea typeface="兰亭黑-简 纤黑" charset="-122"/>
              </a:rPr>
              <a:t>周：结果分析与优化。</a:t>
            </a:r>
          </a:p>
          <a:p>
            <a:pPr algn="just">
              <a:lnSpc>
                <a:spcPts val="2200"/>
              </a:lnSpc>
            </a:pPr>
            <a:r>
              <a:rPr lang="en-US" altLang="zh-CN" sz="1400" dirty="0">
                <a:solidFill>
                  <a:srgbClr val="6C6E70"/>
                </a:solidFill>
                <a:latin typeface="兰亭黑-简 纤黑" charset="-122"/>
                <a:ea typeface="兰亭黑-简 纤黑" charset="-122"/>
              </a:rPr>
              <a:t>- </a:t>
            </a:r>
            <a:r>
              <a:rPr lang="zh-CN" altLang="en-US" sz="1400" dirty="0">
                <a:solidFill>
                  <a:srgbClr val="6C6E70"/>
                </a:solidFill>
                <a:latin typeface="兰亭黑-简 纤黑" charset="-122"/>
                <a:ea typeface="兰亭黑-简 纤黑" charset="-122"/>
              </a:rPr>
              <a:t>第</a:t>
            </a:r>
            <a:r>
              <a:rPr lang="en-US" altLang="zh-CN" sz="1400" dirty="0">
                <a:solidFill>
                  <a:srgbClr val="6C6E70"/>
                </a:solidFill>
                <a:latin typeface="兰亭黑-简 纤黑" charset="-122"/>
                <a:ea typeface="兰亭黑-简 纤黑" charset="-122"/>
              </a:rPr>
              <a:t>14-16</a:t>
            </a:r>
            <a:r>
              <a:rPr lang="zh-CN" altLang="en-US" sz="1400" dirty="0">
                <a:solidFill>
                  <a:srgbClr val="6C6E70"/>
                </a:solidFill>
                <a:latin typeface="兰亭黑-简 纤黑" charset="-122"/>
                <a:ea typeface="兰亭黑-简 纤黑" charset="-122"/>
              </a:rPr>
              <a:t>周：完成论文与答辩。</a:t>
            </a:r>
            <a:endParaRPr lang="en-US" altLang="zh-CN" sz="1400" dirty="0">
              <a:solidFill>
                <a:srgbClr val="6C6E70"/>
              </a:solidFill>
              <a:latin typeface="兰亭黑-简 纤黑" charset="-122"/>
              <a:ea typeface="兰亭黑-简 纤黑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4670607-9688-2EEA-9843-63CAD21AD738}"/>
              </a:ext>
            </a:extLst>
          </p:cNvPr>
          <p:cNvSpPr txBox="1"/>
          <p:nvPr/>
        </p:nvSpPr>
        <p:spPr>
          <a:xfrm>
            <a:off x="7270595" y="513626"/>
            <a:ext cx="882456" cy="2223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1000"/>
              </a:lnSpc>
            </a:pPr>
            <a:r>
              <a:rPr kumimoji="1" lang="en-US" altLang="zh-CN" sz="1000" i="1" dirty="0">
                <a:solidFill>
                  <a:srgbClr val="9E9FA0"/>
                </a:solidFill>
                <a:latin typeface="Geometria-Italic" panose="020B0503020204090204" charset="0"/>
                <a:ea typeface="+mj-ea"/>
                <a:cs typeface="Geometria-Italic" panose="020B0503020204090204" charset="0"/>
              </a:rPr>
              <a:t>04 / 6</a:t>
            </a:r>
          </a:p>
        </p:txBody>
      </p:sp>
    </p:spTree>
    <p:extLst>
      <p:ext uri="{BB962C8B-B14F-4D97-AF65-F5344CB8AC3E}">
        <p14:creationId xmlns:p14="http://schemas.microsoft.com/office/powerpoint/2010/main" val="7128938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75352D-9D05-D60A-2A36-EBA952E5F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>
            <a:extLst>
              <a:ext uri="{FF2B5EF4-FFF2-40B4-BE49-F238E27FC236}">
                <a16:creationId xmlns:a16="http://schemas.microsoft.com/office/drawing/2014/main" id="{15BF6B8B-5301-4134-BCA3-755E3F109E03}"/>
              </a:ext>
            </a:extLst>
          </p:cNvPr>
          <p:cNvSpPr txBox="1"/>
          <p:nvPr/>
        </p:nvSpPr>
        <p:spPr>
          <a:xfrm>
            <a:off x="1047139" y="1184231"/>
            <a:ext cx="7053873" cy="425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600"/>
              </a:lnSpc>
            </a:pPr>
            <a:r>
              <a:rPr kumimoji="1" lang="zh-CN" altLang="en-US" sz="2600" dirty="0">
                <a:solidFill>
                  <a:srgbClr val="A51E36"/>
                </a:solidFill>
                <a:latin typeface="兰亭黑-简 中黑" charset="-122"/>
                <a:ea typeface="兰亭黑-简 中黑" charset="-122"/>
                <a:cs typeface="Gotham Bold" charset="0"/>
              </a:rPr>
              <a:t>创新点与预期贡献</a:t>
            </a:r>
            <a:endParaRPr kumimoji="1" lang="en-US" altLang="zh-CN" sz="2600" dirty="0">
              <a:solidFill>
                <a:srgbClr val="A51E36"/>
              </a:solidFill>
              <a:latin typeface="兰亭黑-简 中黑" charset="-122"/>
              <a:ea typeface="兰亭黑-简 中黑" charset="-122"/>
              <a:cs typeface="Gotham Bold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26F0781-E2EE-F3E6-810A-382CF9FA84AE}"/>
              </a:ext>
            </a:extLst>
          </p:cNvPr>
          <p:cNvSpPr txBox="1"/>
          <p:nvPr/>
        </p:nvSpPr>
        <p:spPr>
          <a:xfrm>
            <a:off x="1027545" y="1660323"/>
            <a:ext cx="7149804" cy="1757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ts val="2200"/>
              </a:lnSpc>
            </a:pPr>
            <a:r>
              <a:rPr lang="en-US" altLang="zh-CN" sz="1400" dirty="0">
                <a:solidFill>
                  <a:srgbClr val="6C6E70"/>
                </a:solidFill>
                <a:latin typeface="兰亭黑-简 纤黑" charset="-122"/>
                <a:ea typeface="兰亭黑-简 纤黑" charset="-122"/>
              </a:rPr>
              <a:t>- </a:t>
            </a:r>
            <a:r>
              <a:rPr lang="zh-CN" altLang="en-US" sz="1400" dirty="0">
                <a:solidFill>
                  <a:srgbClr val="6C6E70"/>
                </a:solidFill>
                <a:latin typeface="兰亭黑-简 纤黑" charset="-122"/>
                <a:ea typeface="兰亭黑-简 纤黑" charset="-122"/>
              </a:rPr>
              <a:t>创新点：</a:t>
            </a:r>
          </a:p>
          <a:p>
            <a:pPr algn="just">
              <a:lnSpc>
                <a:spcPts val="2200"/>
              </a:lnSpc>
            </a:pPr>
            <a:r>
              <a:rPr lang="zh-CN" altLang="en-US" sz="1400" dirty="0">
                <a:solidFill>
                  <a:srgbClr val="6C6E70"/>
                </a:solidFill>
                <a:latin typeface="兰亭黑-简 纤黑" charset="-122"/>
                <a:ea typeface="兰亭黑-简 纤黑" charset="-122"/>
              </a:rPr>
              <a:t>  </a:t>
            </a:r>
            <a:r>
              <a:rPr lang="en-US" altLang="zh-CN" sz="1400" dirty="0">
                <a:solidFill>
                  <a:srgbClr val="6C6E70"/>
                </a:solidFill>
                <a:latin typeface="兰亭黑-简 纤黑" charset="-122"/>
                <a:ea typeface="兰亭黑-简 纤黑" charset="-122"/>
              </a:rPr>
              <a:t>- </a:t>
            </a:r>
            <a:r>
              <a:rPr lang="zh-CN" altLang="en-US" sz="1400" dirty="0">
                <a:solidFill>
                  <a:srgbClr val="6C6E70"/>
                </a:solidFill>
                <a:latin typeface="兰亭黑-简 纤黑" charset="-122"/>
                <a:ea typeface="兰亭黑-简 纤黑" charset="-122"/>
              </a:rPr>
              <a:t>从机器人场景出发，评估量化效果。</a:t>
            </a:r>
          </a:p>
          <a:p>
            <a:pPr algn="just">
              <a:lnSpc>
                <a:spcPts val="2200"/>
              </a:lnSpc>
            </a:pPr>
            <a:r>
              <a:rPr lang="zh-CN" altLang="en-US" sz="1400" dirty="0">
                <a:solidFill>
                  <a:srgbClr val="6C6E70"/>
                </a:solidFill>
                <a:latin typeface="兰亭黑-简 纤黑" charset="-122"/>
                <a:ea typeface="兰亭黑-简 纤黑" charset="-122"/>
              </a:rPr>
              <a:t>  </a:t>
            </a:r>
            <a:r>
              <a:rPr lang="en-US" altLang="zh-CN" sz="1400" dirty="0">
                <a:solidFill>
                  <a:srgbClr val="6C6E70"/>
                </a:solidFill>
                <a:latin typeface="兰亭黑-简 纤黑" charset="-122"/>
                <a:ea typeface="兰亭黑-简 纤黑" charset="-122"/>
              </a:rPr>
              <a:t>- </a:t>
            </a:r>
            <a:r>
              <a:rPr lang="zh-CN" altLang="en-US" sz="1400" dirty="0">
                <a:solidFill>
                  <a:srgbClr val="6C6E70"/>
                </a:solidFill>
                <a:latin typeface="兰亭黑-简 纤黑" charset="-122"/>
                <a:ea typeface="兰亭黑-简 纤黑" charset="-122"/>
              </a:rPr>
              <a:t>提出面向资源受限平台的优化方案。</a:t>
            </a:r>
          </a:p>
          <a:p>
            <a:pPr algn="just">
              <a:lnSpc>
                <a:spcPts val="2200"/>
              </a:lnSpc>
            </a:pPr>
            <a:r>
              <a:rPr lang="en-US" altLang="zh-CN" sz="1400" dirty="0">
                <a:solidFill>
                  <a:srgbClr val="6C6E70"/>
                </a:solidFill>
                <a:latin typeface="兰亭黑-简 纤黑" charset="-122"/>
                <a:ea typeface="兰亭黑-简 纤黑" charset="-122"/>
              </a:rPr>
              <a:t>- </a:t>
            </a:r>
            <a:r>
              <a:rPr lang="zh-CN" altLang="en-US" sz="1400" dirty="0">
                <a:solidFill>
                  <a:srgbClr val="6C6E70"/>
                </a:solidFill>
                <a:latin typeface="兰亭黑-简 纤黑" charset="-122"/>
                <a:ea typeface="兰亭黑-简 纤黑" charset="-122"/>
              </a:rPr>
              <a:t>贡献：</a:t>
            </a:r>
          </a:p>
          <a:p>
            <a:pPr algn="just">
              <a:lnSpc>
                <a:spcPts val="2200"/>
              </a:lnSpc>
            </a:pPr>
            <a:r>
              <a:rPr lang="zh-CN" altLang="en-US" sz="1400" dirty="0">
                <a:solidFill>
                  <a:srgbClr val="6C6E70"/>
                </a:solidFill>
                <a:latin typeface="兰亭黑-简 纤黑" charset="-122"/>
                <a:ea typeface="兰亭黑-简 纤黑" charset="-122"/>
              </a:rPr>
              <a:t>  </a:t>
            </a:r>
            <a:r>
              <a:rPr lang="en-US" altLang="zh-CN" sz="1400" dirty="0">
                <a:solidFill>
                  <a:srgbClr val="6C6E70"/>
                </a:solidFill>
                <a:latin typeface="兰亭黑-简 纤黑" charset="-122"/>
                <a:ea typeface="兰亭黑-简 纤黑" charset="-122"/>
              </a:rPr>
              <a:t>- </a:t>
            </a:r>
            <a:r>
              <a:rPr lang="zh-CN" altLang="en-US" sz="1400" dirty="0">
                <a:solidFill>
                  <a:srgbClr val="6C6E70"/>
                </a:solidFill>
                <a:latin typeface="兰亭黑-简 纤黑" charset="-122"/>
                <a:ea typeface="兰亭黑-简 纤黑" charset="-122"/>
              </a:rPr>
              <a:t>工具与实验基准，助力后续研究。</a:t>
            </a:r>
          </a:p>
          <a:p>
            <a:pPr algn="just">
              <a:lnSpc>
                <a:spcPts val="2200"/>
              </a:lnSpc>
            </a:pPr>
            <a:r>
              <a:rPr lang="zh-CN" altLang="en-US" sz="1400" dirty="0">
                <a:solidFill>
                  <a:srgbClr val="6C6E70"/>
                </a:solidFill>
                <a:latin typeface="兰亭黑-简 纤黑" charset="-122"/>
                <a:ea typeface="兰亭黑-简 纤黑" charset="-122"/>
              </a:rPr>
              <a:t>  </a:t>
            </a:r>
            <a:r>
              <a:rPr lang="en-US" altLang="zh-CN" sz="1400" dirty="0">
                <a:solidFill>
                  <a:srgbClr val="6C6E70"/>
                </a:solidFill>
                <a:latin typeface="兰亭黑-简 纤黑" charset="-122"/>
                <a:ea typeface="兰亭黑-简 纤黑" charset="-122"/>
              </a:rPr>
              <a:t>- </a:t>
            </a:r>
            <a:r>
              <a:rPr lang="zh-CN" altLang="en-US" sz="1400" dirty="0">
                <a:solidFill>
                  <a:srgbClr val="6C6E70"/>
                </a:solidFill>
                <a:latin typeface="兰亭黑-简 纤黑" charset="-122"/>
                <a:ea typeface="兰亭黑-简 纤黑" charset="-122"/>
              </a:rPr>
              <a:t>工程化建议，应用于机器人场景。</a:t>
            </a:r>
            <a:endParaRPr lang="en-US" altLang="zh-CN" sz="1400" dirty="0">
              <a:solidFill>
                <a:srgbClr val="6C6E70"/>
              </a:solidFill>
              <a:latin typeface="兰亭黑-简 纤黑" charset="-122"/>
              <a:ea typeface="兰亭黑-简 纤黑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1F9D9FC-189E-A5BB-EA6E-F432B8853E85}"/>
              </a:ext>
            </a:extLst>
          </p:cNvPr>
          <p:cNvSpPr txBox="1"/>
          <p:nvPr/>
        </p:nvSpPr>
        <p:spPr>
          <a:xfrm>
            <a:off x="7270595" y="513626"/>
            <a:ext cx="882456" cy="2223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1000"/>
              </a:lnSpc>
            </a:pPr>
            <a:r>
              <a:rPr kumimoji="1" lang="en-US" altLang="zh-CN" sz="1000" i="1" dirty="0">
                <a:solidFill>
                  <a:srgbClr val="9E9FA0"/>
                </a:solidFill>
                <a:latin typeface="Geometria-Italic" panose="020B0503020204090204" charset="0"/>
                <a:ea typeface="+mj-ea"/>
                <a:cs typeface="Geometria-Italic" panose="020B0503020204090204" charset="0"/>
              </a:rPr>
              <a:t>05 / 6</a:t>
            </a:r>
          </a:p>
        </p:txBody>
      </p:sp>
    </p:spTree>
    <p:extLst>
      <p:ext uri="{BB962C8B-B14F-4D97-AF65-F5344CB8AC3E}">
        <p14:creationId xmlns:p14="http://schemas.microsoft.com/office/powerpoint/2010/main" val="7811115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C4D7D9-088B-0176-63B7-83203F5DB6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>
            <a:extLst>
              <a:ext uri="{FF2B5EF4-FFF2-40B4-BE49-F238E27FC236}">
                <a16:creationId xmlns:a16="http://schemas.microsoft.com/office/drawing/2014/main" id="{11CE2A66-1F71-9762-77FD-B5C39BC90C08}"/>
              </a:ext>
            </a:extLst>
          </p:cNvPr>
          <p:cNvSpPr txBox="1"/>
          <p:nvPr/>
        </p:nvSpPr>
        <p:spPr>
          <a:xfrm>
            <a:off x="1047139" y="1184231"/>
            <a:ext cx="7053873" cy="425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600"/>
              </a:lnSpc>
            </a:pPr>
            <a:r>
              <a:rPr kumimoji="1" lang="zh-CN" altLang="en-US" sz="2600" dirty="0">
                <a:solidFill>
                  <a:srgbClr val="A51E36"/>
                </a:solidFill>
                <a:latin typeface="兰亭黑-简 中黑" charset="-122"/>
                <a:ea typeface="兰亭黑-简 中黑" charset="-122"/>
                <a:cs typeface="Gotham Bold" charset="0"/>
              </a:rPr>
              <a:t>致谢与提问</a:t>
            </a:r>
            <a:endParaRPr kumimoji="1" lang="en-US" altLang="zh-CN" sz="2600" dirty="0">
              <a:solidFill>
                <a:srgbClr val="A51E36"/>
              </a:solidFill>
              <a:latin typeface="兰亭黑-简 中黑" charset="-122"/>
              <a:ea typeface="兰亭黑-简 中黑" charset="-122"/>
              <a:cs typeface="Gotham Bold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D7B84AE-8B28-8AE1-66DF-F18251814393}"/>
              </a:ext>
            </a:extLst>
          </p:cNvPr>
          <p:cNvSpPr txBox="1"/>
          <p:nvPr/>
        </p:nvSpPr>
        <p:spPr>
          <a:xfrm>
            <a:off x="1027545" y="1660323"/>
            <a:ext cx="7149804" cy="9108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ts val="2200"/>
              </a:lnSpc>
            </a:pPr>
            <a:r>
              <a:rPr lang="en-US" altLang="zh-CN" sz="1400" dirty="0">
                <a:solidFill>
                  <a:srgbClr val="6C6E70"/>
                </a:solidFill>
                <a:latin typeface="兰亭黑-简 纤黑" charset="-122"/>
                <a:ea typeface="兰亭黑-简 纤黑" charset="-122"/>
              </a:rPr>
              <a:t>- </a:t>
            </a:r>
            <a:r>
              <a:rPr lang="zh-CN" altLang="en-US" sz="1400" dirty="0">
                <a:solidFill>
                  <a:srgbClr val="6C6E70"/>
                </a:solidFill>
                <a:latin typeface="兰亭黑-简 纤黑" charset="-122"/>
                <a:ea typeface="兰亭黑-简 纤黑" charset="-122"/>
              </a:rPr>
              <a:t>致谢：</a:t>
            </a:r>
          </a:p>
          <a:p>
            <a:pPr algn="just">
              <a:lnSpc>
                <a:spcPts val="2200"/>
              </a:lnSpc>
            </a:pPr>
            <a:r>
              <a:rPr lang="zh-CN" altLang="en-US" sz="1400" dirty="0">
                <a:solidFill>
                  <a:srgbClr val="6C6E70"/>
                </a:solidFill>
                <a:latin typeface="兰亭黑-简 纤黑" charset="-122"/>
                <a:ea typeface="兰亭黑-简 纤黑" charset="-122"/>
              </a:rPr>
              <a:t>  </a:t>
            </a:r>
            <a:r>
              <a:rPr lang="en-US" altLang="zh-CN" sz="1400" dirty="0">
                <a:solidFill>
                  <a:srgbClr val="6C6E70"/>
                </a:solidFill>
                <a:latin typeface="兰亭黑-简 纤黑" charset="-122"/>
                <a:ea typeface="兰亭黑-简 纤黑" charset="-122"/>
              </a:rPr>
              <a:t>- </a:t>
            </a:r>
            <a:r>
              <a:rPr lang="zh-CN" altLang="en-US" sz="1400" dirty="0">
                <a:solidFill>
                  <a:srgbClr val="6C6E70"/>
                </a:solidFill>
                <a:latin typeface="兰亭黑-简 纤黑" charset="-122"/>
                <a:ea typeface="兰亭黑-简 纤黑" charset="-122"/>
              </a:rPr>
              <a:t>感谢导师、同学与研究团队的帮助与指导。</a:t>
            </a:r>
          </a:p>
          <a:p>
            <a:pPr algn="just">
              <a:lnSpc>
                <a:spcPts val="2200"/>
              </a:lnSpc>
            </a:pPr>
            <a:r>
              <a:rPr lang="en-US" altLang="zh-CN" sz="1400" dirty="0">
                <a:solidFill>
                  <a:srgbClr val="6C6E70"/>
                </a:solidFill>
                <a:latin typeface="兰亭黑-简 纤黑" charset="-122"/>
                <a:ea typeface="兰亭黑-简 纤黑" charset="-122"/>
              </a:rPr>
              <a:t>- </a:t>
            </a:r>
            <a:r>
              <a:rPr lang="zh-CN" altLang="en-US" sz="1400" dirty="0">
                <a:solidFill>
                  <a:srgbClr val="6C6E70"/>
                </a:solidFill>
                <a:latin typeface="兰亭黑-简 纤黑" charset="-122"/>
                <a:ea typeface="兰亭黑-简 纤黑" charset="-122"/>
              </a:rPr>
              <a:t>期待您的问题与建议。</a:t>
            </a:r>
            <a:endParaRPr lang="en-US" altLang="zh-CN" sz="1400" dirty="0">
              <a:solidFill>
                <a:srgbClr val="6C6E70"/>
              </a:solidFill>
              <a:latin typeface="兰亭黑-简 纤黑" charset="-122"/>
              <a:ea typeface="兰亭黑-简 纤黑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E236F19-71AB-07E2-DD0F-8AE09869D940}"/>
              </a:ext>
            </a:extLst>
          </p:cNvPr>
          <p:cNvSpPr txBox="1"/>
          <p:nvPr/>
        </p:nvSpPr>
        <p:spPr>
          <a:xfrm>
            <a:off x="7270595" y="513626"/>
            <a:ext cx="882456" cy="2223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1000"/>
              </a:lnSpc>
            </a:pPr>
            <a:r>
              <a:rPr kumimoji="1" lang="en-US" altLang="zh-CN" sz="1000" i="1" dirty="0">
                <a:solidFill>
                  <a:srgbClr val="9E9FA0"/>
                </a:solidFill>
                <a:latin typeface="Geometria-Italic" panose="020B0503020204090204" charset="0"/>
                <a:ea typeface="+mj-ea"/>
                <a:cs typeface="Geometria-Italic" panose="020B0503020204090204" charset="0"/>
              </a:rPr>
              <a:t>06 / 6</a:t>
            </a:r>
          </a:p>
        </p:txBody>
      </p:sp>
    </p:spTree>
    <p:extLst>
      <p:ext uri="{BB962C8B-B14F-4D97-AF65-F5344CB8AC3E}">
        <p14:creationId xmlns:p14="http://schemas.microsoft.com/office/powerpoint/2010/main" val="27201109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未标题-2-0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3365" cy="518414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2263503" y="2441394"/>
            <a:ext cx="5489803" cy="579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800"/>
              </a:lnSpc>
            </a:pPr>
            <a:r>
              <a:rPr kumimoji="1" lang="en-US" altLang="zh-CN" sz="4000" dirty="0">
                <a:solidFill>
                  <a:srgbClr val="A51E36"/>
                </a:solidFill>
                <a:latin typeface="Geometria" panose="020B0503020204020204" charset="0"/>
                <a:ea typeface="+mj-ea"/>
                <a:cs typeface="Gotham Bold" charset="0"/>
              </a:rPr>
              <a:t>THANKS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</TotalTime>
  <Words>414</Words>
  <Application>Microsoft Office PowerPoint</Application>
  <PresentationFormat>自定义</PresentationFormat>
  <Paragraphs>53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8" baseType="lpstr">
      <vt:lpstr>Geometria</vt:lpstr>
      <vt:lpstr>Geometria-Italic</vt:lpstr>
      <vt:lpstr>Geometria-Medium</vt:lpstr>
      <vt:lpstr>DengXian</vt:lpstr>
      <vt:lpstr>兰亭黑-简 纤黑</vt:lpstr>
      <vt:lpstr>兰亭黑-简 中黑</vt:lpstr>
      <vt:lpstr>Arial</vt:lpstr>
      <vt:lpstr>Calibri</vt:lpstr>
      <vt:lpstr>Calibri Light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snow noir</dc:creator>
  <cp:lastModifiedBy>kevin yao</cp:lastModifiedBy>
  <cp:revision>246</cp:revision>
  <dcterms:created xsi:type="dcterms:W3CDTF">2017-10-31T12:19:00Z</dcterms:created>
  <dcterms:modified xsi:type="dcterms:W3CDTF">2026-01-07T00:43:37Z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EA83AD495EDC4964935791BACC433186</vt:lpwstr>
  </property>
  <property fmtid="{D5CDD505-2E9C-101B-9397-08002B2CF9AE}" pid="3" name="KSOProductBuildVer">
    <vt:lpwstr>2052-11.1.0.10700</vt:lpwstr>
  </property>
</Properties>
</file>